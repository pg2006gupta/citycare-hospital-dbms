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234440" cy="1234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CITY CARE HOSPITAL</a:t>
            </a:r>
          </a:p>
          <a:p>
            <a:pPr>
              <a:defRPr sz="2200">
                <a:solidFill>
                  <a:srgbClr val="7DD3FC"/>
                </a:solidFill>
              </a:defRPr>
            </a:pPr>
            <a:r>
              <a:t>Hospital / Clinic Management System — DBMS Final Project</a:t>
            </a:r>
          </a:p>
          <a:p>
            <a:br/>
            <a:pPr>
              <a:defRPr sz="1500">
                <a:solidFill>
                  <a:srgbClr val="94A3B8"/>
                </a:solidFill>
              </a:defRPr>
            </a:pPr>
            <a:r>
              <a:t>&lt; Your Name &gt;   |   Roll No. &lt; ___ &gt;   |   &lt; Course / Semester &gt;</a:t>
            </a:r>
            <a:br/>
            <a:r>
              <a:t>Guided by &lt; Teacher's Name &gt;   |  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 &amp; Objectives</a:t>
            </a:r>
          </a:p>
          <a:p>
            <a:pPr>
              <a:defRPr sz="1200">
                <a:solidFill>
                  <a:srgbClr val="A5B4FC"/>
                </a:solidFill>
              </a:defRPr>
            </a:pPr>
            <a:r>
              <a:t>Why this project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75467"/>
                </a:solidFill>
              </a:defRPr>
            </a:pPr>
            <a:r>
              <a:t>•  Manual registers cause duplication, inconsistency and slow retrieval.</a:t>
            </a:r>
          </a:p>
          <a:p>
            <a:pPr>
              <a:spcAft>
                <a:spcPts val="1100"/>
              </a:spcAft>
              <a:defRPr sz="1700">
                <a:solidFill>
                  <a:srgbClr val="475467"/>
                </a:solidFill>
              </a:defRPr>
            </a:pPr>
            <a:r>
              <a:t>•  Design a normalised relational database for a mid-size hospital.</a:t>
            </a:r>
          </a:p>
          <a:p>
            <a:pPr>
              <a:spcAft>
                <a:spcPts val="1100"/>
              </a:spcAft>
              <a:defRPr sz="1700">
                <a:solidFill>
                  <a:srgbClr val="475467"/>
                </a:solidFill>
              </a:defRPr>
            </a:pPr>
            <a:r>
              <a:t>•  Build a simple software application over that database.</a:t>
            </a:r>
          </a:p>
          <a:p>
            <a:pPr>
              <a:spcAft>
                <a:spcPts val="1100"/>
              </a:spcAft>
              <a:defRPr sz="1700">
                <a:solidFill>
                  <a:srgbClr val="475467"/>
                </a:solidFill>
              </a:defRPr>
            </a:pPr>
            <a:r>
              <a:t>•  10 modules: patients, doctors, departments, rooms, appointments, admissions, prescriptions, medicines, billing, reports.</a:t>
            </a:r>
          </a:p>
          <a:p>
            <a:pPr>
              <a:spcAft>
                <a:spcPts val="1100"/>
              </a:spcAft>
              <a:defRPr sz="1700">
                <a:solidFill>
                  <a:srgbClr val="475467"/>
                </a:solidFill>
              </a:defRPr>
            </a:pPr>
            <a:r>
              <a:t>•  Enforce integrity with keys and constraints; retrieve information with SQL.</a:t>
            </a:r>
          </a:p>
          <a:p>
            <a:pPr>
              <a:spcAft>
                <a:spcPts val="1100"/>
              </a:spcAft>
              <a:defRPr sz="1700">
                <a:solidFill>
                  <a:srgbClr val="475467"/>
                </a:solidFill>
              </a:defRPr>
            </a:pPr>
            <a:r>
              <a:t>•  Make the database work visible through a live SQL Console.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Three-Tier Architecture</a:t>
            </a:r>
          </a:p>
          <a:p>
            <a:pPr>
              <a:defRPr sz="1200">
                <a:solidFill>
                  <a:srgbClr val="A5B4FC"/>
                </a:solidFill>
              </a:defRPr>
            </a:pPr>
            <a:r>
              <a:t>Frontend  →  Backend  → 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0881360" cy="2286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572768"/>
            <a:ext cx="1055217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   PRESENTATION   index.html + app.js + styles.css (vanilla JS SPA)</a:t>
            </a:r>
            <a:br/>
            <a:r>
              <a:t>          |  fetch('/api/...')  →  JSON</a:t>
            </a:r>
            <a:br/>
            <a:r>
              <a:t>   APPLICATION    server.py — Python http.server REST API + sqlite3</a:t>
            </a:r>
            <a:br/>
            <a:r>
              <a:t>          |  SQL statements with ? placeholders</a:t>
            </a:r>
            <a:br/>
            <a:r>
              <a:t>   DATA           hospital.db — SQLite, 10 tables, views, triggers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475467"/>
                </a:solidFill>
              </a:defRPr>
            </a:pPr>
            <a:r>
              <a:t>•  No external libraries, no internet, no API keys — runs on any lab PC.</a:t>
            </a:r>
          </a:p>
          <a:p>
            <a:pPr>
              <a:spcAft>
                <a:spcPts val="1100"/>
              </a:spcAft>
              <a:defRPr sz="1500">
                <a:solidFill>
                  <a:srgbClr val="475467"/>
                </a:solidFill>
              </a:defRPr>
            </a:pPr>
            <a:r>
              <a:t>•  The frontend contains zero data; every value is an SQL result.</a:t>
            </a:r>
          </a:p>
          <a:p>
            <a:pPr>
              <a:spcAft>
                <a:spcPts val="1100"/>
              </a:spcAft>
              <a:defRPr sz="1500">
                <a:solidFill>
                  <a:srgbClr val="475467"/>
                </a:solidFill>
              </a:defRPr>
            </a:pPr>
            <a:r>
              <a:t>•  Parameterised queries prevent SQL injection.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Entity Relationship Diagram</a:t>
            </a:r>
          </a:p>
          <a:p>
            <a:pPr>
              <a:defRPr sz="1200">
                <a:solidFill>
                  <a:srgbClr val="A5B4FC"/>
                </a:solidFill>
              </a:defRPr>
            </a:pPr>
            <a:r>
              <a:t>10 entities · 13 relationships</a:t>
            </a:r>
          </a:p>
        </p:txBody>
      </p:sp>
      <p:pic>
        <p:nvPicPr>
          <p:cNvPr id="4" name="Picture 3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390042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46304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475467"/>
                </a:solidFill>
              </a:defRPr>
            </a:pPr>
            <a:r>
              <a:t>• 1:M : DEPARTMENT→DOCTOR, PATIENT→APPOINTMENT, …</a:t>
            </a:r>
          </a:p>
          <a:p>
            <a:pPr>
              <a:spcAft>
                <a:spcPts val="1200"/>
              </a:spcAft>
              <a:defRPr sz="1300">
                <a:solidFill>
                  <a:srgbClr val="475467"/>
                </a:solidFill>
              </a:defRPr>
            </a:pPr>
            <a:r>
              <a:t>• M:N : DOCTOR↔PATIENT via APPOINTMENT</a:t>
            </a:r>
          </a:p>
          <a:p>
            <a:pPr>
              <a:spcAft>
                <a:spcPts val="1200"/>
              </a:spcAft>
              <a:defRPr sz="1300">
                <a:solidFill>
                  <a:srgbClr val="475467"/>
                </a:solidFill>
              </a:defRPr>
            </a:pPr>
            <a:r>
              <a:t>• M:N : PRESCRIPTION↔MEDICINE via PRESCRIPTION_DETAIL</a:t>
            </a:r>
          </a:p>
          <a:p>
            <a:pPr>
              <a:spcAft>
                <a:spcPts val="1200"/>
              </a:spcAft>
              <a:defRPr sz="1300">
                <a:solidFill>
                  <a:srgbClr val="475467"/>
                </a:solidFill>
              </a:defRPr>
            </a:pPr>
            <a:r>
              <a:t>• Derived: BILL.NetAmount, LineTotal</a:t>
            </a:r>
          </a:p>
          <a:p>
            <a:pPr>
              <a:spcAft>
                <a:spcPts val="1200"/>
              </a:spcAft>
              <a:defRPr sz="1300">
                <a:solidFill>
                  <a:srgbClr val="475467"/>
                </a:solidFill>
              </a:defRPr>
            </a:pPr>
            <a:r>
              <a:t>• 13 foreign keys with ON DELETE / UPDATE rules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Relational Schema</a:t>
            </a:r>
          </a:p>
          <a:p>
            <a:pPr>
              <a:defRPr sz="1200">
                <a:solidFill>
                  <a:srgbClr val="A5B4FC"/>
                </a:solidFill>
              </a:defRPr>
            </a:pPr>
            <a:r>
              <a:t>Tables, keys and row counts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042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20340"/>
                <a:gridCol w="2720340"/>
                <a:gridCol w="2720340"/>
              </a:tblGrid>
              <a:tr h="7010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Rows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Rows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t>ADMISSION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MEDICINE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t>APPOINTMENT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t>BILL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PRESCRIPTION_DETAIL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t>DOCTOR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7607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475467"/>
                </a:solidFill>
              </a:defRPr>
            </a:pPr>
            <a:r>
              <a:t>•  Every table has a PRIMARY KEY; 13 FOREIGN KEY relationships; CHECK + UNIQUE constraints.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Normalisation — 1NF to BCNF</a:t>
            </a:r>
          </a:p>
          <a:p>
            <a:pPr>
              <a:defRPr sz="1200">
                <a:solidFill>
                  <a:srgbClr val="A5B4FC"/>
                </a:solidFill>
              </a:defRPr>
            </a:pPr>
            <a:r>
              <a:t>Removing redundancy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75467"/>
                </a:solidFill>
              </a:defRPr>
            </a:pPr>
            <a:r>
              <a:t>•  1NF — split repeating medicine columns into PRESCRIPTION_DETAIL; atomic values only.</a:t>
            </a:r>
          </a:p>
          <a:p>
            <a:pPr>
              <a:spcAft>
                <a:spcPts val="1100"/>
              </a:spcAft>
              <a:defRPr sz="1700">
                <a:solidFill>
                  <a:srgbClr val="475467"/>
                </a:solidFill>
              </a:defRPr>
            </a:pPr>
            <a:r>
              <a:t>•  2NF — composite key (PrescID, MedicineID): move MedName/Category (dependent on MedicineID only) into MEDICINE.</a:t>
            </a:r>
          </a:p>
          <a:p>
            <a:pPr>
              <a:spcAft>
                <a:spcPts val="1100"/>
              </a:spcAft>
              <a:defRPr sz="1700">
                <a:solidFill>
                  <a:srgbClr val="475467"/>
                </a:solidFill>
              </a:defRPr>
            </a:pPr>
            <a:r>
              <a:t>•  3NF — remove transitive dependency DoctorID → DeptID → DeptName by creating DEPARTMENT.</a:t>
            </a:r>
          </a:p>
          <a:p>
            <a:pPr>
              <a:spcAft>
                <a:spcPts val="1100"/>
              </a:spcAft>
              <a:defRPr sz="1700">
                <a:solidFill>
                  <a:srgbClr val="475467"/>
                </a:solidFill>
              </a:defRPr>
            </a:pPr>
            <a:r>
              <a:t>•  BCNF — every determinant is a candidate key; no insertion/update/deletion anomalies.</a:t>
            </a:r>
          </a:p>
          <a:p>
            <a:pPr>
              <a:spcAft>
                <a:spcPts val="1100"/>
              </a:spcAft>
              <a:defRPr sz="1700">
                <a:solidFill>
                  <a:srgbClr val="475467"/>
                </a:solidFill>
              </a:defRPr>
            </a:pPr>
            <a:r>
              <a:t>•  LineTotal and NetAmount are generated columns, never stored redundantly.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SQL Queries</a:t>
            </a:r>
          </a:p>
          <a:p>
            <a:pPr>
              <a:defRPr sz="1200">
                <a:solidFill>
                  <a:srgbClr val="A5B4FC"/>
                </a:solidFill>
              </a:defRPr>
            </a:pPr>
            <a:r>
              <a:t>From 36 verified queries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2377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81328"/>
            <a:ext cx="1055217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onsolas"/>
              </a:defRPr>
            </a:pPr>
            <a:r>
              <a:t>Q09  3-table join — appointment register</a:t>
            </a:r>
            <a:br/>
            <a:r>
              <a:t>  SELECT a.AppDate, p.FullName, d.FullName, dp.DeptName</a:t>
            </a:r>
            <a:br/>
            <a:r>
              <a:t>  FROM APPOINTMENT a JOIN PATIENT p ON a.PatientID=p.PatientID</a:t>
            </a:r>
            <a:br/>
            <a:r>
              <a:t>  JOIN DOCTOR d ON a.DoctorID=d.DoctorID</a:t>
            </a:r>
            <a:br/>
            <a:r>
              <a:t>  JOIN DEPARTMENT dp ON d.DeptID=dp.DeptID;</a:t>
            </a:r>
            <a:br/>
            <a:br/>
            <a:r>
              <a:t>Q14  Correlated subquery — above department average</a:t>
            </a:r>
            <a:br/>
            <a:r>
              <a:t>  SELECT FullName FROM DOCTOR d WHERE ConsultFee &gt;</a:t>
            </a:r>
            <a:br/>
            <a:r>
              <a:t>    (SELECT AVG(ConsultFee) FROM DOCTOR d2 WHERE d2.DeptID=d.DeptID);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77639"/>
            <a:ext cx="10881360" cy="2286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4087368"/>
            <a:ext cx="1055217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onsolas"/>
              </a:defRPr>
            </a:pPr>
            <a:r>
              <a:t>Q18  4-table join through M:N junction — full prescription</a:t>
            </a:r>
            <a:br/>
            <a:r>
              <a:t>  FROM PRESCRIPTION pr JOIN PATIENT p JOIN DOCTOR d</a:t>
            </a:r>
            <a:br/>
            <a:r>
              <a:t>  JOIN PRESCRIPTION_DETAIL pd JOIN MEDICINE m ...</a:t>
            </a:r>
            <a:br/>
            <a:br/>
            <a:r>
              <a:t>Q19  Top 5 medicines:  GROUP BY medicine, SUM(Qty), ORDER BY, LIMIT 5</a:t>
            </a:r>
            <a:br/>
            <a:r>
              <a:t>Q22  Monthly trend:    strftime('%Y-%m',AppDate) + GROUP BY</a:t>
            </a:r>
            <a:br/>
            <a:r>
              <a:t>Q32  Integrity audit:  LEFT JOIN ... IS NULL + duplicate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Advanced Database Objects</a:t>
            </a:r>
          </a:p>
          <a:p>
            <a:pPr>
              <a:defRPr sz="1200">
                <a:solidFill>
                  <a:srgbClr val="A5B4FC"/>
                </a:solidFill>
              </a:defRPr>
            </a:pPr>
            <a:r>
              <a:t>Beyond basic CRUD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475467"/>
                </a:solidFill>
              </a:defRPr>
            </a:pPr>
            <a:r>
              <a:t>•  VIEWS — v_doctor_schedule, v_available_rooms, v_patient_spend, v_doctor_revenue (Q25).</a:t>
            </a:r>
          </a:p>
          <a:p>
            <a:pPr>
              <a:spcAft>
                <a:spcPts val="1100"/>
              </a:spcAft>
              <a:defRPr sz="1600">
                <a:solidFill>
                  <a:srgbClr val="475467"/>
                </a:solidFill>
              </a:defRPr>
            </a:pPr>
            <a:r>
              <a:t>•  TRIGGERS — auto-reduce medicine stock; set room status on admission / discharge.</a:t>
            </a:r>
          </a:p>
          <a:p>
            <a:pPr>
              <a:spcAft>
                <a:spcPts val="1100"/>
              </a:spcAft>
              <a:defRPr sz="1600">
                <a:solidFill>
                  <a:srgbClr val="475467"/>
                </a:solidFill>
              </a:defRPr>
            </a:pPr>
            <a:r>
              <a:t>•  GENERATED COLUMNS — BILL.NetAmount, PRESCRIPTION_DETAIL.LineTotal.</a:t>
            </a:r>
          </a:p>
          <a:p>
            <a:pPr>
              <a:spcAft>
                <a:spcPts val="1100"/>
              </a:spcAft>
              <a:defRPr sz="1600">
                <a:solidFill>
                  <a:srgbClr val="475467"/>
                </a:solidFill>
              </a:defRPr>
            </a:pPr>
            <a:r>
              <a:t>•  INDEXES — on appointment date, patient, bill patient+date, medicine, patient name.</a:t>
            </a:r>
          </a:p>
          <a:p>
            <a:pPr>
              <a:spcAft>
                <a:spcPts val="1100"/>
              </a:spcAft>
              <a:defRPr sz="1600">
                <a:solidFill>
                  <a:srgbClr val="475467"/>
                </a:solidFill>
              </a:defRPr>
            </a:pPr>
            <a:r>
              <a:t>•  EXPLAIN QUERY PLAN (Q27) — proves idx_app_date is used instead of a full scan.</a:t>
            </a:r>
          </a:p>
          <a:p>
            <a:pPr>
              <a:spcAft>
                <a:spcPts val="1100"/>
              </a:spcAft>
              <a:defRPr sz="1600">
                <a:solidFill>
                  <a:srgbClr val="475467"/>
                </a:solidFill>
              </a:defRPr>
            </a:pPr>
            <a:r>
              <a:t>•  TRANSACTIONS (Q28) — BEGIN / INSERT / INSERT / COMMIT, ROLLBACK on error.</a:t>
            </a:r>
          </a:p>
          <a:p>
            <a:pPr>
              <a:spcAft>
                <a:spcPts val="1100"/>
              </a:spcAft>
              <a:defRPr sz="1600">
                <a:solidFill>
                  <a:srgbClr val="475467"/>
                </a:solidFill>
              </a:defRPr>
            </a:pPr>
            <a:r>
              <a:t>•  CONSTRAINTS — UNIQUE(DoctorID, AppDate, AppTime) prevents double booking.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Application Screens</a:t>
            </a:r>
          </a:p>
          <a:p>
            <a:pPr>
              <a:defRPr sz="1200">
                <a:solidFill>
                  <a:srgbClr val="A5B4FC"/>
                </a:solidFill>
              </a:defRPr>
            </a:pPr>
            <a:r>
              <a:t>Frontend proof of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475467"/>
                </a:solidFill>
              </a:defRPr>
            </a:pPr>
            <a:r>
              <a:t>•  Dashboard — 5 KPI cards + 4 charts (all SQL aggregates).</a:t>
            </a:r>
          </a:p>
          <a:p>
            <a:pPr>
              <a:spcAft>
                <a:spcPts val="1100"/>
              </a:spcAft>
              <a:defRPr sz="1600">
                <a:solidFill>
                  <a:srgbClr val="475467"/>
                </a:solidFill>
              </a:defRPr>
            </a:pPr>
            <a:r>
              <a:t>•  Patients / Doctors / Appointments / Billing / Pharmacy — joined, filterable tables.</a:t>
            </a:r>
          </a:p>
          <a:p>
            <a:pPr>
              <a:spcAft>
                <a:spcPts val="1100"/>
              </a:spcAft>
              <a:defRPr sz="1600">
                <a:solidFill>
                  <a:srgbClr val="475467"/>
                </a:solidFill>
              </a:defRPr>
            </a:pPr>
            <a:r>
              <a:t>•  Beds / Rooms — current patient in each bed; live real-world date &amp; time in the top bar of every page.</a:t>
            </a:r>
          </a:p>
          <a:p>
            <a:pPr>
              <a:spcAft>
                <a:spcPts val="1100"/>
              </a:spcAft>
              <a:defRPr sz="1600">
                <a:solidFill>
                  <a:srgbClr val="475467"/>
                </a:solidFill>
              </a:defRPr>
            </a:pPr>
            <a:r>
              <a:t>•  Dark mode, three text sizes, coloured typography and a custom hospital logo.</a:t>
            </a:r>
          </a:p>
          <a:p>
            <a:pPr>
              <a:spcAft>
                <a:spcPts val="1100"/>
              </a:spcAft>
              <a:defRPr sz="1600">
                <a:solidFill>
                  <a:srgbClr val="475467"/>
                </a:solidFill>
              </a:defRPr>
            </a:pPr>
            <a:r>
              <a:t>•  3D rotating logo watermark behind every page (CSS preserve-3d) with on-screen controls.</a:t>
            </a:r>
          </a:p>
          <a:p>
            <a:pPr>
              <a:spcAft>
                <a:spcPts val="1100"/>
              </a:spcAft>
              <a:defRPr sz="1600">
                <a:solidFill>
                  <a:srgbClr val="475467"/>
                </a:solidFill>
              </a:defRPr>
            </a:pPr>
            <a:r>
              <a:t>•  Book Appointment — transactional form with rollback on constraint violation.</a:t>
            </a:r>
          </a:p>
          <a:p>
            <a:pPr>
              <a:spcAft>
                <a:spcPts val="1100"/>
              </a:spcAft>
              <a:defRPr sz="1600">
                <a:solidFill>
                  <a:srgbClr val="475467"/>
                </a:solidFill>
              </a:defRPr>
            </a:pPr>
            <a:r>
              <a:t>•  SQL Console ⭐ — 36-query bank, live editor, result grid, query plan, verify-all, reset.</a:t>
            </a:r>
          </a:p>
          <a:p>
            <a:pPr>
              <a:spcAft>
                <a:spcPts val="1100"/>
              </a:spcAft>
              <a:defRPr sz="1600">
                <a:solidFill>
                  <a:srgbClr val="475467"/>
                </a:solidFill>
              </a:defRPr>
            </a:pPr>
            <a:r>
              <a:t>•  Schema page — live data dictionary from PRAGMA and sqlite_master.</a:t>
            </a:r>
          </a:p>
          <a:p>
            <a:pPr>
              <a:spcAft>
                <a:spcPts val="1100"/>
              </a:spcAft>
              <a:defRPr sz="1600">
                <a:solidFill>
                  <a:srgbClr val="475467"/>
                </a:solidFill>
              </a:defRPr>
            </a:pPr>
            <a:r>
              <a:t>•  ER Diagram page — clean diagram only; normalisation is in the report.</a:t>
            </a:r>
          </a:p>
          <a:p>
            <a:pPr>
              <a:spcAft>
                <a:spcPts val="1100"/>
              </a:spcAft>
              <a:defRPr sz="1600">
                <a:solidFill>
                  <a:srgbClr val="475467"/>
                </a:solidFill>
              </a:defRPr>
            </a:pPr>
            <a:r>
              <a:t>•  Every screen has a 'SQL behind this screen' panel.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5778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475467"/>
                </a:solidFill>
              </a:defRPr>
            </a:pPr>
            <a:r>
              <a:t>•  [ Paste Dashboard screenshot ]        [ Paste SQL Console screenshot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Testing &amp; Validation</a:t>
            </a:r>
          </a:p>
          <a:p>
            <a:pPr>
              <a:defRPr sz="1200">
                <a:solidFill>
                  <a:srgbClr val="A5B4FC"/>
                </a:solidFill>
              </a:defRPr>
            </a:pPr>
            <a:r>
              <a:t>36 / 36 queries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475467"/>
                </a:solidFill>
              </a:defRPr>
            </a:pPr>
            <a:r>
              <a:t>•  T01 Duplicate PK → rejected        T02 Orphan FK → rejected</a:t>
            </a:r>
          </a:p>
          <a:p>
            <a:pPr>
              <a:spcAft>
                <a:spcPts val="1100"/>
              </a:spcAft>
              <a:defRPr sz="1500">
                <a:solidFill>
                  <a:srgbClr val="475467"/>
                </a:solidFill>
              </a:defRPr>
            </a:pPr>
            <a:r>
              <a:t>•  T03 Double booking → UNIQUE error + ROLLBACK</a:t>
            </a:r>
          </a:p>
          <a:p>
            <a:pPr>
              <a:spcAft>
                <a:spcPts val="1100"/>
              </a:spcAft>
              <a:defRPr sz="1500">
                <a:solidFill>
                  <a:srgbClr val="475467"/>
                </a:solidFill>
              </a:defRPr>
            </a:pPr>
            <a:r>
              <a:t>•  T04 Trigger → medicine stock decreases automatically</a:t>
            </a:r>
          </a:p>
          <a:p>
            <a:pPr>
              <a:spcAft>
                <a:spcPts val="1100"/>
              </a:spcAft>
              <a:defRPr sz="1500">
                <a:solidFill>
                  <a:srgbClr val="475467"/>
                </a:solidFill>
              </a:defRPr>
            </a:pPr>
            <a:r>
              <a:t>•  T05 ON DELETE CASCADE → prescription removed with appointment</a:t>
            </a:r>
          </a:p>
          <a:p>
            <a:pPr>
              <a:spcAft>
                <a:spcPts val="1100"/>
              </a:spcAft>
              <a:defRPr sz="1500">
                <a:solidFill>
                  <a:srgbClr val="475467"/>
                </a:solidFill>
              </a:defRPr>
            </a:pPr>
            <a:r>
              <a:t>•  T06 Generated column → NetAmount computed correctly</a:t>
            </a:r>
          </a:p>
          <a:p>
            <a:pPr>
              <a:spcAft>
                <a:spcPts val="1100"/>
              </a:spcAft>
              <a:defRPr sz="1500">
                <a:solidFill>
                  <a:srgbClr val="475467"/>
                </a:solidFill>
              </a:defRPr>
            </a:pPr>
            <a:r>
              <a:t>•  T07 Parameterised search → correct filtered rows</a:t>
            </a:r>
          </a:p>
          <a:p>
            <a:pPr>
              <a:spcAft>
                <a:spcPts val="1100"/>
              </a:spcAft>
              <a:defRPr sz="1500">
                <a:solidFill>
                  <a:srgbClr val="475467"/>
                </a:solidFill>
              </a:defRPr>
            </a:pPr>
            <a:r>
              <a:t>•  T08 Q32 integrity audit → 0 orphans, 0 duplicate phones</a:t>
            </a:r>
          </a:p>
          <a:p>
            <a:pPr>
              <a:spcAft>
                <a:spcPts val="1100"/>
              </a:spcAft>
              <a:defRPr sz="1500">
                <a:solidFill>
                  <a:srgbClr val="475467"/>
                </a:solidFill>
              </a:defRPr>
            </a:pPr>
            <a:r>
              <a:t>•  T09 'Verify all 36' → 36/36 PASS on a temporary DB copy</a:t>
            </a:r>
          </a:p>
          <a:p>
            <a:pPr>
              <a:spcAft>
                <a:spcPts val="1100"/>
              </a:spcAft>
              <a:defRPr sz="1500">
                <a:solidFill>
                  <a:srgbClr val="475467"/>
                </a:solidFill>
              </a:defRPr>
            </a:pPr>
            <a:r>
              <a:t>•  T10 Reset → database rebuilt from schema.sql + seed.sql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Limitations &amp; Future Scope</a:t>
            </a:r>
          </a:p>
          <a:p>
            <a:pPr>
              <a:defRPr sz="1200">
                <a:solidFill>
                  <a:srgbClr val="A5B4FC"/>
                </a:solidFill>
              </a:defRPr>
            </a:pPr>
            <a:r>
              <a:t>Honest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75467"/>
                </a:solidFill>
              </a:defRPr>
            </a:pPr>
            <a:r>
              <a:t>•  Single-user desktop app; no login / role-based access control yet.</a:t>
            </a:r>
          </a:p>
          <a:p>
            <a:pPr>
              <a:spcAft>
                <a:spcPts val="1100"/>
              </a:spcAft>
              <a:defRPr sz="1700">
                <a:solidFill>
                  <a:srgbClr val="475467"/>
                </a:solidFill>
              </a:defRPr>
            </a:pPr>
            <a:r>
              <a:t>•  SQLite chosen for portability; MySQL/PostgreSQL needed for high concurrency.</a:t>
            </a:r>
          </a:p>
          <a:p>
            <a:pPr>
              <a:spcAft>
                <a:spcPts val="1100"/>
              </a:spcAft>
              <a:defRPr sz="1700">
                <a:solidFill>
                  <a:srgbClr val="475467"/>
                </a:solidFill>
              </a:defRPr>
            </a:pPr>
            <a:r>
              <a:t>•  No payment gateway, SMS/email alerts or insurance processing.</a:t>
            </a:r>
          </a:p>
          <a:p>
            <a:pPr>
              <a:spcAft>
                <a:spcPts val="1100"/>
              </a:spcAft>
              <a:defRPr sz="1700">
                <a:solidFill>
                  <a:srgbClr val="475467"/>
                </a:solidFill>
              </a:defRPr>
            </a:pPr>
            <a:r>
              <a:t>•  Future: authentication, mobile app, PDF invoices, automated backups, analytics warehouse.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  <a:p>
            <a:pPr>
              <a:defRPr sz="1200">
                <a:solidFill>
                  <a:srgbClr val="A5B4FC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475467"/>
                </a:solidFill>
              </a:defRPr>
            </a:pPr>
            <a:r>
              <a:t>•  A complete, normalised relational database for hospital management was designed and implemented.</a:t>
            </a:r>
          </a:p>
          <a:p>
            <a:pPr>
              <a:spcAft>
                <a:spcPts val="1100"/>
              </a:spcAft>
              <a:defRPr sz="1800">
                <a:solidFill>
                  <a:srgbClr val="475467"/>
                </a:solidFill>
              </a:defRPr>
            </a:pPr>
            <a:r>
              <a:t>•  10 tables, 13 foreign keys, 3 views, 3 triggers, 6 indexes, 36 verified SQL queries.</a:t>
            </a:r>
          </a:p>
          <a:p>
            <a:pPr>
              <a:spcAft>
                <a:spcPts val="1100"/>
              </a:spcAft>
              <a:defRPr sz="1800">
                <a:solidFill>
                  <a:srgbClr val="475467"/>
                </a:solidFill>
              </a:defRPr>
            </a:pPr>
            <a:r>
              <a:t>•  A working full-stack application proves every screen is driven by real SQL.</a:t>
            </a:r>
          </a:p>
          <a:p>
            <a:pPr>
              <a:spcAft>
                <a:spcPts val="1100"/>
              </a:spcAft>
              <a:defRPr sz="1800">
                <a:solidFill>
                  <a:srgbClr val="475467"/>
                </a:solidFill>
              </a:defRPr>
            </a:pPr>
            <a:r>
              <a:t>•  The integrated SQL Console makes the database work directly demonstrable.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949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4F46E5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